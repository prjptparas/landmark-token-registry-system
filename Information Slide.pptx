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embeddedFontLst>
    <p:embeddedFont>
      <p:font typeface="Play"/>
      <p:regular r:id="rId16"/>
      <p:bold r:id="rId17"/>
    </p:embeddedFont>
    <p:embeddedFont>
      <p:font typeface="Century Gothic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gk7jAfUhJKou079cK70P+LyQ5r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italic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CenturyGothic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5" Type="http://schemas.openxmlformats.org/officeDocument/2006/relationships/slide" Target="slides/slide1.xml"/><Relationship Id="rId19" Type="http://schemas.openxmlformats.org/officeDocument/2006/relationships/font" Target="fonts/CenturyGothic-bold.fntdata"/><Relationship Id="rId6" Type="http://schemas.openxmlformats.org/officeDocument/2006/relationships/slide" Target="slides/slide2.xml"/><Relationship Id="rId18" Type="http://schemas.openxmlformats.org/officeDocument/2006/relationships/font" Target="fonts/CenturyGothic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/>
          <p:nvPr/>
        </p:nvSpPr>
        <p:spPr>
          <a:xfrm>
            <a:off x="0" y="-3175"/>
            <a:ext cx="12192000" cy="5203825"/>
          </a:xfrm>
          <a:custGeom>
            <a:rect b="b" l="l" r="r" t="t"/>
            <a:pathLst>
              <a:path extrusionOk="0" h="3278" w="576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3"/>
          <p:cNvSpPr txBox="1"/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" type="subTitle"/>
          </p:nvPr>
        </p:nvSpPr>
        <p:spPr>
          <a:xfrm>
            <a:off x="810001" y="5280847"/>
            <a:ext cx="10572000" cy="43497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13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4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14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" type="body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16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/>
          <p:nvPr/>
        </p:nvSpPr>
        <p:spPr>
          <a:xfrm>
            <a:off x="0" y="1"/>
            <a:ext cx="12192000" cy="5203825"/>
          </a:xfrm>
          <a:custGeom>
            <a:rect b="b" l="l" r="r" t="t"/>
            <a:pathLst>
              <a:path extrusionOk="0" h="3278" w="576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17"/>
          <p:cNvSpPr txBox="1"/>
          <p:nvPr>
            <p:ph type="title"/>
          </p:nvPr>
        </p:nvSpPr>
        <p:spPr>
          <a:xfrm>
            <a:off x="810000" y="2951396"/>
            <a:ext cx="10561418" cy="1468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b="1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810000" y="5281201"/>
            <a:ext cx="10561418" cy="43395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17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8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18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" type="body"/>
          </p:nvPr>
        </p:nvSpPr>
        <p:spPr>
          <a:xfrm>
            <a:off x="818712" y="2222287"/>
            <a:ext cx="5185873" cy="36387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2" type="body"/>
          </p:nvPr>
        </p:nvSpPr>
        <p:spPr>
          <a:xfrm>
            <a:off x="6187415" y="2222287"/>
            <a:ext cx="5194583" cy="363876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19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" type="body"/>
          </p:nvPr>
        </p:nvSpPr>
        <p:spPr>
          <a:xfrm>
            <a:off x="814728" y="2174875"/>
            <a:ext cx="5189857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000"/>
              <a:buNone/>
              <a:defRPr b="0" sz="20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19"/>
          <p:cNvSpPr txBox="1"/>
          <p:nvPr>
            <p:ph idx="2" type="body"/>
          </p:nvPr>
        </p:nvSpPr>
        <p:spPr>
          <a:xfrm>
            <a:off x="814729" y="2751138"/>
            <a:ext cx="5189856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3" type="body"/>
          </p:nvPr>
        </p:nvSpPr>
        <p:spPr>
          <a:xfrm>
            <a:off x="6187415" y="2174875"/>
            <a:ext cx="5194583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000"/>
              <a:buNone/>
              <a:defRPr b="0" sz="20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19"/>
          <p:cNvSpPr txBox="1"/>
          <p:nvPr>
            <p:ph idx="4" type="body"/>
          </p:nvPr>
        </p:nvSpPr>
        <p:spPr>
          <a:xfrm>
            <a:off x="6187415" y="2751138"/>
            <a:ext cx="5194583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/>
        </p:txBody>
      </p:sp>
      <p:sp>
        <p:nvSpPr>
          <p:cNvPr id="61" name="Google Shape;61;p19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9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0"/>
          <p:cNvSpPr/>
          <p:nvPr/>
        </p:nvSpPr>
        <p:spPr>
          <a:xfrm>
            <a:off x="1073151" y="446087"/>
            <a:ext cx="3547533" cy="1814651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20"/>
          <p:cNvSpPr txBox="1"/>
          <p:nvPr>
            <p:ph type="title"/>
          </p:nvPr>
        </p:nvSpPr>
        <p:spPr>
          <a:xfrm>
            <a:off x="1073151" y="446088"/>
            <a:ext cx="3547533" cy="161839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entury Gothic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" type="body"/>
          </p:nvPr>
        </p:nvSpPr>
        <p:spPr>
          <a:xfrm>
            <a:off x="4855633" y="446088"/>
            <a:ext cx="6252633" cy="54149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/>
        </p:txBody>
      </p:sp>
      <p:sp>
        <p:nvSpPr>
          <p:cNvPr id="68" name="Google Shape;68;p20"/>
          <p:cNvSpPr txBox="1"/>
          <p:nvPr>
            <p:ph idx="2" type="body"/>
          </p:nvPr>
        </p:nvSpPr>
        <p:spPr>
          <a:xfrm>
            <a:off x="1073151" y="2260738"/>
            <a:ext cx="3547533" cy="36003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0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/>
          <p:nvPr>
            <p:ph type="title"/>
          </p:nvPr>
        </p:nvSpPr>
        <p:spPr>
          <a:xfrm>
            <a:off x="814728" y="727522"/>
            <a:ext cx="4852988" cy="16171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/>
          <p:nvPr>
            <p:ph idx="2" type="pic"/>
          </p:nvPr>
        </p:nvSpPr>
        <p:spPr>
          <a:xfrm>
            <a:off x="6098117" y="0"/>
            <a:ext cx="6093883" cy="68580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21"/>
          <p:cNvSpPr txBox="1"/>
          <p:nvPr>
            <p:ph idx="1" type="body"/>
          </p:nvPr>
        </p:nvSpPr>
        <p:spPr>
          <a:xfrm>
            <a:off x="814728" y="2344684"/>
            <a:ext cx="4852988" cy="35163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6" name="Google Shape;76;p21"/>
          <p:cNvSpPr txBox="1"/>
          <p:nvPr>
            <p:ph idx="10" type="dt"/>
          </p:nvPr>
        </p:nvSpPr>
        <p:spPr>
          <a:xfrm>
            <a:off x="3885810" y="6041362"/>
            <a:ext cx="9768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1" type="ftr"/>
          </p:nvPr>
        </p:nvSpPr>
        <p:spPr>
          <a:xfrm>
            <a:off x="590396" y="6041362"/>
            <a:ext cx="32954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2" type="sldNum"/>
          </p:nvPr>
        </p:nvSpPr>
        <p:spPr>
          <a:xfrm>
            <a:off x="4862689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/>
          <p:nvPr>
            <p:ph type="title"/>
          </p:nvPr>
        </p:nvSpPr>
        <p:spPr>
          <a:xfrm>
            <a:off x="810000" y="4800600"/>
            <a:ext cx="10561418" cy="56673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2"/>
          <p:cNvSpPr/>
          <p:nvPr>
            <p:ph idx="2" type="pic"/>
          </p:nvPr>
        </p:nvSpPr>
        <p:spPr>
          <a:xfrm>
            <a:off x="0" y="0"/>
            <a:ext cx="12192000" cy="4800600"/>
          </a:xfrm>
          <a:prstGeom prst="rect">
            <a:avLst/>
          </a:prstGeom>
          <a:noFill/>
          <a:ln cap="rnd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82" name="Google Shape;82;p22"/>
          <p:cNvSpPr txBox="1"/>
          <p:nvPr>
            <p:ph idx="1" type="body"/>
          </p:nvPr>
        </p:nvSpPr>
        <p:spPr>
          <a:xfrm>
            <a:off x="810000" y="5367338"/>
            <a:ext cx="10561418" cy="4937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3" name="Google Shape;83;p22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2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/>
          <p:nvPr/>
        </p:nvSpPr>
        <p:spPr>
          <a:xfrm>
            <a:off x="631697" y="1081456"/>
            <a:ext cx="6332416" cy="3239188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23"/>
          <p:cNvSpPr txBox="1"/>
          <p:nvPr>
            <p:ph type="title"/>
          </p:nvPr>
        </p:nvSpPr>
        <p:spPr>
          <a:xfrm>
            <a:off x="850985" y="1238502"/>
            <a:ext cx="5893840" cy="26459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200"/>
              <a:buFont typeface="Century Gothic"/>
              <a:buNone/>
              <a:defRPr b="1" sz="4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1" type="body"/>
          </p:nvPr>
        </p:nvSpPr>
        <p:spPr>
          <a:xfrm>
            <a:off x="853190" y="4443680"/>
            <a:ext cx="5891636" cy="71324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23"/>
          <p:cNvSpPr txBox="1"/>
          <p:nvPr>
            <p:ph idx="2" type="body"/>
          </p:nvPr>
        </p:nvSpPr>
        <p:spPr>
          <a:xfrm>
            <a:off x="7574642" y="1081456"/>
            <a:ext cx="3810001" cy="40754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4"/>
          <p:cNvSpPr/>
          <p:nvPr/>
        </p:nvSpPr>
        <p:spPr>
          <a:xfrm>
            <a:off x="1140884" y="2286585"/>
            <a:ext cx="4895115" cy="2503972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24"/>
          <p:cNvSpPr txBox="1"/>
          <p:nvPr>
            <p:ph type="title"/>
          </p:nvPr>
        </p:nvSpPr>
        <p:spPr>
          <a:xfrm>
            <a:off x="1357089" y="2435957"/>
            <a:ext cx="4382521" cy="200778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1" type="body"/>
          </p:nvPr>
        </p:nvSpPr>
        <p:spPr>
          <a:xfrm>
            <a:off x="6156000" y="2286000"/>
            <a:ext cx="4880300" cy="229552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/>
        </p:txBody>
      </p:sp>
      <p:sp>
        <p:nvSpPr>
          <p:cNvPr id="98" name="Google Shape;98;p24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4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5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25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1" type="body"/>
          </p:nvPr>
        </p:nvSpPr>
        <p:spPr>
          <a:xfrm rot="5400000">
            <a:off x="4254444" y="-1260043"/>
            <a:ext cx="3674397" cy="1056328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/>
        </p:txBody>
      </p:sp>
      <p:sp>
        <p:nvSpPr>
          <p:cNvPr id="105" name="Google Shape;105;p25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5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5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/>
          <p:nvPr/>
        </p:nvSpPr>
        <p:spPr>
          <a:xfrm>
            <a:off x="7669651" y="446089"/>
            <a:ext cx="4522349" cy="5414962"/>
          </a:xfrm>
          <a:custGeom>
            <a:rect b="b" l="l" r="r" t="t"/>
            <a:pathLst>
              <a:path extrusionOk="0" h="4320" w="2879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26"/>
          <p:cNvSpPr txBox="1"/>
          <p:nvPr>
            <p:ph type="title"/>
          </p:nvPr>
        </p:nvSpPr>
        <p:spPr>
          <a:xfrm rot="5400000">
            <a:off x="6863536" y="1906175"/>
            <a:ext cx="5134798" cy="249479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6"/>
          <p:cNvSpPr txBox="1"/>
          <p:nvPr>
            <p:ph idx="1" type="body"/>
          </p:nvPr>
        </p:nvSpPr>
        <p:spPr>
          <a:xfrm rot="5400000">
            <a:off x="1408290" y="-152200"/>
            <a:ext cx="5414962" cy="66115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indent="-342900" lvl="5" marL="27432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indent="-342900" lvl="6" marL="32004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indent="-342900" lvl="7" marL="36576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indent="-342900" lvl="8" marL="41148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/>
        </p:txBody>
      </p:sp>
      <p:sp>
        <p:nvSpPr>
          <p:cNvPr id="112" name="Google Shape;112;p26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6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6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 b="1" i="0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about:blank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"/>
          <p:cNvSpPr txBox="1"/>
          <p:nvPr>
            <p:ph type="ctrTitle"/>
          </p:nvPr>
        </p:nvSpPr>
        <p:spPr>
          <a:xfrm>
            <a:off x="571501" y="1699518"/>
            <a:ext cx="11049000" cy="2971051"/>
          </a:xfrm>
          <a:prstGeom prst="rect">
            <a:avLst/>
          </a:prstGeom>
          <a:noFill/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Century Gothic"/>
              <a:buNone/>
            </a:pPr>
            <a:r>
              <a:rPr lang="en-IN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BLOCKCHAIN BASED LAND REGISTRY SYSTEM</a:t>
            </a:r>
            <a:endParaRPr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" name="Google Shape;120;p1"/>
          <p:cNvSpPr txBox="1"/>
          <p:nvPr>
            <p:ph idx="1" type="subTitle"/>
          </p:nvPr>
        </p:nvSpPr>
        <p:spPr>
          <a:xfrm>
            <a:off x="810001" y="5246255"/>
            <a:ext cx="10572000" cy="140480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9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9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</a:pPr>
            <a:r>
              <a:rPr b="0" lang="en-IN" sz="6000">
                <a:solidFill>
                  <a:schemeClr val="dk1"/>
                </a:solidFill>
              </a:rPr>
              <a:t>OUR TEAM</a:t>
            </a:r>
            <a:endParaRPr/>
          </a:p>
        </p:txBody>
      </p:sp>
      <p:sp>
        <p:nvSpPr>
          <p:cNvPr id="126" name="Google Shape;126;p2"/>
          <p:cNvSpPr txBox="1"/>
          <p:nvPr>
            <p:ph idx="1" type="body"/>
          </p:nvPr>
        </p:nvSpPr>
        <p:spPr>
          <a:xfrm>
            <a:off x="810000" y="2788344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3375" lvl="0" marL="342900" rtl="0" algn="l">
              <a:spcBef>
                <a:spcPts val="970"/>
              </a:spcBef>
              <a:spcAft>
                <a:spcPts val="0"/>
              </a:spcAft>
              <a:buSzPct val="100000"/>
              <a:buChar char="🞆"/>
            </a:pPr>
            <a:r>
              <a:rPr lang="en-IN" sz="2000">
                <a:latin typeface="Arial"/>
                <a:ea typeface="Arial"/>
                <a:cs typeface="Arial"/>
                <a:sym typeface="Arial"/>
              </a:rPr>
              <a:t>Team Leader : Karan Shah</a:t>
            </a:r>
            <a:endParaRPr/>
          </a:p>
          <a:p>
            <a:pPr indent="-333375" lvl="0" marL="342900" rtl="0" algn="l">
              <a:spcBef>
                <a:spcPts val="970"/>
              </a:spcBef>
              <a:spcAft>
                <a:spcPts val="0"/>
              </a:spcAft>
              <a:buSzPct val="100000"/>
              <a:buChar char="🞆"/>
            </a:pPr>
            <a:r>
              <a:rPr lang="en-IN" sz="2000">
                <a:latin typeface="Arial"/>
                <a:ea typeface="Arial"/>
                <a:cs typeface="Arial"/>
                <a:sym typeface="Arial"/>
              </a:rPr>
              <a:t>Team Member 1 : Mitiksha Pipaliya 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33375" lvl="0" marL="342900" rtl="0" algn="l">
              <a:spcBef>
                <a:spcPts val="970"/>
              </a:spcBef>
              <a:spcAft>
                <a:spcPts val="0"/>
              </a:spcAft>
              <a:buSzPct val="100000"/>
              <a:buChar char="🞆"/>
            </a:pPr>
            <a:r>
              <a:rPr lang="en-IN" sz="2000">
                <a:latin typeface="Arial"/>
                <a:ea typeface="Arial"/>
                <a:cs typeface="Arial"/>
                <a:sym typeface="Arial"/>
              </a:rPr>
              <a:t>Team Member 2 : Jinal Vanodia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33375" lvl="0" marL="342900" rtl="0" algn="l">
              <a:spcBef>
                <a:spcPts val="970"/>
              </a:spcBef>
              <a:spcAft>
                <a:spcPts val="0"/>
              </a:spcAft>
              <a:buSzPct val="100000"/>
              <a:buChar char="🞆"/>
            </a:pPr>
            <a:r>
              <a:rPr lang="en-IN" sz="2000">
                <a:latin typeface="Arial"/>
                <a:ea typeface="Arial"/>
                <a:cs typeface="Arial"/>
                <a:sym typeface="Arial"/>
              </a:rPr>
              <a:t>Team Member 3 :Dev Parmar</a:t>
            </a:r>
            <a:endParaRPr/>
          </a:p>
          <a:p>
            <a:pPr indent="-333375" lvl="0" marL="342900" rtl="0" algn="l">
              <a:spcBef>
                <a:spcPts val="970"/>
              </a:spcBef>
              <a:spcAft>
                <a:spcPts val="0"/>
              </a:spcAft>
              <a:buSzPct val="100000"/>
              <a:buChar char="🞆"/>
            </a:pPr>
            <a:r>
              <a:rPr lang="en-IN" sz="2000">
                <a:latin typeface="Arial"/>
                <a:ea typeface="Arial"/>
                <a:cs typeface="Arial"/>
                <a:sym typeface="Arial"/>
              </a:rPr>
              <a:t> Team Member 4: </a:t>
            </a:r>
            <a:r>
              <a:rPr lang="en-IN" sz="2000">
                <a:latin typeface="Arial"/>
                <a:ea typeface="Arial"/>
                <a:cs typeface="Arial"/>
                <a:sym typeface="Arial"/>
              </a:rPr>
              <a:t>Happy Singh</a:t>
            </a:r>
            <a:r>
              <a:rPr lang="en-IN" sz="2000">
                <a:latin typeface="Arial"/>
                <a:ea typeface="Arial"/>
                <a:cs typeface="Arial"/>
                <a:sym typeface="Arial"/>
              </a:rPr>
              <a:t> Chundawat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33375" lvl="0" marL="342900" rtl="0" algn="l">
              <a:spcBef>
                <a:spcPts val="970"/>
              </a:spcBef>
              <a:spcAft>
                <a:spcPts val="0"/>
              </a:spcAft>
              <a:buSzPct val="100000"/>
              <a:buChar char="🞆"/>
            </a:pPr>
            <a:r>
              <a:rPr lang="en-IN" sz="2000">
                <a:latin typeface="Arial"/>
                <a:ea typeface="Arial"/>
                <a:cs typeface="Arial"/>
                <a:sym typeface="Arial"/>
              </a:rPr>
              <a:t>Team Member 5: Jay Mehta</a:t>
            </a:r>
            <a:endParaRPr/>
          </a:p>
          <a:p>
            <a:pPr indent="-333375" lvl="0" marL="342900" rtl="0" algn="l">
              <a:spcBef>
                <a:spcPts val="970"/>
              </a:spcBef>
              <a:spcAft>
                <a:spcPts val="0"/>
              </a:spcAft>
              <a:buSzPct val="100000"/>
              <a:buChar char="🞆"/>
            </a:pPr>
            <a:r>
              <a:rPr lang="en-IN" sz="2000">
                <a:latin typeface="Arial"/>
                <a:ea typeface="Arial"/>
                <a:cs typeface="Arial"/>
                <a:sym typeface="Arial"/>
              </a:rPr>
              <a:t>Team Member 6: Parva Solanki</a:t>
            </a:r>
            <a:endParaRPr/>
          </a:p>
          <a:p>
            <a:pPr indent="-333375" lvl="0" marL="342900" rtl="0" algn="l">
              <a:spcBef>
                <a:spcPts val="970"/>
              </a:spcBef>
              <a:spcAft>
                <a:spcPts val="0"/>
              </a:spcAft>
              <a:buSzPct val="100000"/>
              <a:buChar char="🞆"/>
            </a:pPr>
            <a:r>
              <a:rPr lang="en-IN" sz="2000">
                <a:latin typeface="Arial"/>
                <a:ea typeface="Arial"/>
                <a:cs typeface="Arial"/>
                <a:sym typeface="Arial"/>
              </a:rPr>
              <a:t>Team Member 7: Paras Prajapati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25425" lvl="0" marL="342900" rtl="0" algn="l">
              <a:spcBef>
                <a:spcPts val="97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7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</a:pPr>
            <a:r>
              <a:rPr b="0" lang="en-IN" sz="6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PROBLEM</a:t>
            </a:r>
            <a:r>
              <a:rPr b="0" lang="en-IN">
                <a:solidFill>
                  <a:schemeClr val="dk1"/>
                </a:solidFill>
              </a:rPr>
              <a:t>  </a:t>
            </a:r>
            <a:r>
              <a:rPr b="0" lang="en-IN" sz="6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DESCRIPTION</a:t>
            </a:r>
            <a:endParaRPr/>
          </a:p>
        </p:txBody>
      </p:sp>
      <p:sp>
        <p:nvSpPr>
          <p:cNvPr id="132" name="Google Shape;132;p3"/>
          <p:cNvSpPr txBox="1"/>
          <p:nvPr>
            <p:ph idx="1" type="body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IN" sz="2800">
                <a:solidFill>
                  <a:schemeClr val="hlink"/>
                </a:solidFill>
                <a:uFill>
                  <a:noFill/>
                </a:uFill>
                <a:hlinkClick r:id="rId3"/>
              </a:rPr>
              <a:t>Design and development of Blockchain based land registry system to remove the role of broker and make a more smooth, transparent and secured System.</a:t>
            </a:r>
            <a:endParaRPr sz="2800"/>
          </a:p>
          <a:p>
            <a:pPr indent="0" lvl="0" marL="0" rtl="0" algn="just">
              <a:spcBef>
                <a:spcPts val="11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4"/>
          <p:cNvPicPr preferRelativeResize="0"/>
          <p:nvPr/>
        </p:nvPicPr>
        <p:blipFill rotWithShape="1">
          <a:blip r:embed="rId3">
            <a:alphaModFix/>
          </a:blip>
          <a:srcRect b="0" l="0" r="0" t="1166"/>
          <a:stretch/>
        </p:blipFill>
        <p:spPr>
          <a:xfrm>
            <a:off x="1994700" y="0"/>
            <a:ext cx="8202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5"/>
          <p:cNvGrpSpPr/>
          <p:nvPr/>
        </p:nvGrpSpPr>
        <p:grpSpPr>
          <a:xfrm>
            <a:off x="-3684093" y="-1134734"/>
            <a:ext cx="15469692" cy="8835369"/>
            <a:chOff x="-7417893" y="-1134734"/>
            <a:chExt cx="15469692" cy="8835369"/>
          </a:xfrm>
        </p:grpSpPr>
        <p:sp>
          <p:nvSpPr>
            <p:cNvPr id="143" name="Google Shape;143;p5"/>
            <p:cNvSpPr/>
            <p:nvPr/>
          </p:nvSpPr>
          <p:spPr>
            <a:xfrm>
              <a:off x="-7417893" y="-1134734"/>
              <a:ext cx="8835369" cy="8835369"/>
            </a:xfrm>
            <a:prstGeom prst="blockArc">
              <a:avLst>
                <a:gd fmla="val 18900000" name="adj1"/>
                <a:gd fmla="val 2700000" name="adj2"/>
                <a:gd fmla="val 244" name="adj3"/>
              </a:avLst>
            </a:prstGeom>
            <a:noFill/>
            <a:ln cap="rnd" cmpd="sng" w="15875">
              <a:solidFill>
                <a:srgbClr val="1CC7B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460597" y="298485"/>
              <a:ext cx="7503547" cy="596708"/>
            </a:xfrm>
            <a:prstGeom prst="rect">
              <a:avLst/>
            </a:prstGeom>
            <a:solidFill>
              <a:srgbClr val="00B2A7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5"/>
            <p:cNvSpPr txBox="1"/>
            <p:nvPr/>
          </p:nvSpPr>
          <p:spPr>
            <a:xfrm>
              <a:off x="460597" y="298485"/>
              <a:ext cx="7503547" cy="5967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8725" lIns="473625" spcFirstLastPara="1" rIns="78725" wrap="square" tIns="78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3100"/>
                <a:buFont typeface="Century Gothic"/>
                <a:buNone/>
              </a:pPr>
              <a:r>
                <a:rPr b="1" i="0" lang="en-IN" sz="3100" u="none" cap="none" strike="noStrike">
                  <a:solidFill>
                    <a:schemeClr val="dk2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Complex and Fragmented System</a:t>
              </a:r>
              <a:endParaRPr b="0" i="0" sz="31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87654" y="236547"/>
              <a:ext cx="745886" cy="745886"/>
            </a:xfrm>
            <a:prstGeom prst="ellipse">
              <a:avLst/>
            </a:prstGeom>
            <a:solidFill>
              <a:schemeClr val="lt1"/>
            </a:solidFill>
            <a:ln cap="rnd" cmpd="sng" w="15875">
              <a:solidFill>
                <a:srgbClr val="00B2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1000971" y="1194074"/>
              <a:ext cx="6963173" cy="596708"/>
            </a:xfrm>
            <a:prstGeom prst="rect">
              <a:avLst/>
            </a:prstGeom>
            <a:solidFill>
              <a:srgbClr val="08C7BA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5"/>
            <p:cNvSpPr txBox="1"/>
            <p:nvPr/>
          </p:nvSpPr>
          <p:spPr>
            <a:xfrm>
              <a:off x="1000971" y="1194074"/>
              <a:ext cx="6963173" cy="5967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8725" lIns="473625" spcFirstLastPara="1" rIns="78725" wrap="square" tIns="78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3100"/>
                <a:buFont typeface="Century Gothic"/>
                <a:buNone/>
              </a:pPr>
              <a:r>
                <a:rPr b="1" i="0" lang="en-IN" sz="3100" u="none" cap="none" strike="noStrike">
                  <a:solidFill>
                    <a:schemeClr val="dk2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Lack of Transparency</a:t>
              </a:r>
              <a:endParaRPr b="0" i="0" sz="31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628028" y="1119485"/>
              <a:ext cx="745886" cy="745886"/>
            </a:xfrm>
            <a:prstGeom prst="ellipse">
              <a:avLst/>
            </a:prstGeom>
            <a:solidFill>
              <a:schemeClr val="lt1"/>
            </a:solidFill>
            <a:ln cap="rnd" cmpd="sng" w="15875">
              <a:solidFill>
                <a:srgbClr val="08C7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1297093" y="2089006"/>
              <a:ext cx="6667051" cy="596708"/>
            </a:xfrm>
            <a:prstGeom prst="rect">
              <a:avLst/>
            </a:prstGeom>
            <a:solidFill>
              <a:srgbClr val="14DBCC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5"/>
            <p:cNvSpPr txBox="1"/>
            <p:nvPr/>
          </p:nvSpPr>
          <p:spPr>
            <a:xfrm>
              <a:off x="1297093" y="2089006"/>
              <a:ext cx="6667051" cy="5967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8725" lIns="473625" spcFirstLastPara="1" rIns="78725" wrap="square" tIns="78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3100"/>
                <a:buFont typeface="Century Gothic"/>
                <a:buNone/>
              </a:pPr>
              <a:r>
                <a:rPr b="1" i="0" lang="en-IN" sz="3100" u="none" cap="none" strike="noStrike">
                  <a:solidFill>
                    <a:schemeClr val="dk2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Forgery and Fraud</a:t>
              </a:r>
              <a:endParaRPr b="0" i="0" sz="31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924150" y="2014418"/>
              <a:ext cx="745886" cy="745886"/>
            </a:xfrm>
            <a:prstGeom prst="ellipse">
              <a:avLst/>
            </a:prstGeom>
            <a:solidFill>
              <a:schemeClr val="lt1"/>
            </a:solidFill>
            <a:ln cap="rnd" cmpd="sng" w="15875">
              <a:solidFill>
                <a:srgbClr val="14DB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1479297" y="2984595"/>
              <a:ext cx="6572502" cy="596708"/>
            </a:xfrm>
            <a:prstGeom prst="rect">
              <a:avLst/>
            </a:prstGeom>
            <a:solidFill>
              <a:srgbClr val="2EDFD2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5"/>
            <p:cNvSpPr txBox="1"/>
            <p:nvPr/>
          </p:nvSpPr>
          <p:spPr>
            <a:xfrm>
              <a:off x="1479297" y="2984595"/>
              <a:ext cx="6572502" cy="5967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8725" lIns="473625" spcFirstLastPara="1" rIns="78725" wrap="square" tIns="78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3100"/>
                <a:buFont typeface="Century Gothic"/>
                <a:buNone/>
              </a:pPr>
              <a:r>
                <a:rPr b="1" i="0" lang="en-IN" sz="3100" u="none" cap="none" strike="noStrike">
                  <a:solidFill>
                    <a:schemeClr val="dk2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Lack of Digitization</a:t>
              </a:r>
              <a:endParaRPr b="0" i="0" sz="31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1018699" y="2910006"/>
              <a:ext cx="745886" cy="745886"/>
            </a:xfrm>
            <a:prstGeom prst="ellipse">
              <a:avLst/>
            </a:prstGeom>
            <a:solidFill>
              <a:schemeClr val="lt1"/>
            </a:solidFill>
            <a:ln cap="rnd" cmpd="sng" w="15875">
              <a:solidFill>
                <a:srgbClr val="2EDFD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1297093" y="3880184"/>
              <a:ext cx="6667051" cy="596708"/>
            </a:xfrm>
            <a:prstGeom prst="rect">
              <a:avLst/>
            </a:prstGeom>
            <a:solidFill>
              <a:srgbClr val="53DACE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5"/>
            <p:cNvSpPr txBox="1"/>
            <p:nvPr/>
          </p:nvSpPr>
          <p:spPr>
            <a:xfrm>
              <a:off x="1297093" y="3880184"/>
              <a:ext cx="6667051" cy="5967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8725" lIns="473625" spcFirstLastPara="1" rIns="78725" wrap="square" tIns="78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3100"/>
                <a:buFont typeface="Century Gothic"/>
                <a:buNone/>
              </a:pPr>
              <a:r>
                <a:rPr b="1" i="0" lang="en-IN" sz="3100" u="none" cap="none" strike="noStrike">
                  <a:solidFill>
                    <a:schemeClr val="dk2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Manual Record-Keeping</a:t>
              </a:r>
              <a:endParaRPr b="0" i="0" sz="31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924150" y="3805595"/>
              <a:ext cx="745886" cy="745886"/>
            </a:xfrm>
            <a:prstGeom prst="ellipse">
              <a:avLst/>
            </a:prstGeom>
            <a:solidFill>
              <a:schemeClr val="lt1"/>
            </a:solidFill>
            <a:ln cap="rnd" cmpd="sng" w="15875">
              <a:solidFill>
                <a:srgbClr val="53DA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1000971" y="4775116"/>
              <a:ext cx="6963173" cy="596708"/>
            </a:xfrm>
            <a:prstGeom prst="rect">
              <a:avLst/>
            </a:prstGeom>
            <a:solidFill>
              <a:srgbClr val="73D8CE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5"/>
            <p:cNvSpPr txBox="1"/>
            <p:nvPr/>
          </p:nvSpPr>
          <p:spPr>
            <a:xfrm>
              <a:off x="1000971" y="4775116"/>
              <a:ext cx="6963173" cy="5967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8725" lIns="473625" spcFirstLastPara="1" rIns="78725" wrap="square" tIns="78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3100"/>
                <a:buFont typeface="Century Gothic"/>
                <a:buNone/>
              </a:pPr>
              <a:r>
                <a:rPr b="1" i="0" lang="en-IN" sz="3100" u="none" cap="none" strike="noStrike">
                  <a:solidFill>
                    <a:schemeClr val="dk2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Long Registration Processes</a:t>
              </a:r>
              <a:endParaRPr b="1" i="0" sz="31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628028" y="4700527"/>
              <a:ext cx="745886" cy="745886"/>
            </a:xfrm>
            <a:prstGeom prst="ellipse">
              <a:avLst/>
            </a:prstGeom>
            <a:solidFill>
              <a:schemeClr val="lt1"/>
            </a:solidFill>
            <a:ln cap="rnd" cmpd="sng" w="15875">
              <a:solidFill>
                <a:srgbClr val="73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460597" y="5670705"/>
              <a:ext cx="7503547" cy="596708"/>
            </a:xfrm>
            <a:prstGeom prst="rect">
              <a:avLst/>
            </a:prstGeom>
            <a:solidFill>
              <a:srgbClr val="92D9D1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5"/>
            <p:cNvSpPr txBox="1"/>
            <p:nvPr/>
          </p:nvSpPr>
          <p:spPr>
            <a:xfrm>
              <a:off x="460597" y="5670705"/>
              <a:ext cx="7503547" cy="5967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8725" lIns="473625" spcFirstLastPara="1" rIns="78725" wrap="square" tIns="787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3100"/>
                <a:buFont typeface="Century Gothic"/>
                <a:buNone/>
              </a:pPr>
              <a:r>
                <a:rPr b="1" i="0" lang="en-IN" sz="3100" u="none" cap="none" strike="noStrike">
                  <a:solidFill>
                    <a:schemeClr val="dk2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Land Title Disputes</a:t>
              </a:r>
              <a:endParaRPr b="1" i="0" sz="31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87654" y="5596116"/>
              <a:ext cx="745886" cy="745886"/>
            </a:xfrm>
            <a:prstGeom prst="ellipse">
              <a:avLst/>
            </a:prstGeom>
            <a:solidFill>
              <a:schemeClr val="lt1"/>
            </a:solidFill>
            <a:ln cap="rnd" cmpd="sng" w="15875">
              <a:solidFill>
                <a:srgbClr val="92D9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5" name="Google Shape;165;p5"/>
          <p:cNvSpPr txBox="1"/>
          <p:nvPr/>
        </p:nvSpPr>
        <p:spPr>
          <a:xfrm>
            <a:off x="406400" y="1841500"/>
            <a:ext cx="3327300" cy="2555100"/>
          </a:xfrm>
          <a:prstGeom prst="rect">
            <a:avLst/>
          </a:prstGeom>
          <a:noFill/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4000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PROBLEMS WITH TRADITIONAL APPROACH</a:t>
            </a:r>
            <a:endParaRPr b="1" i="0" sz="4000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9900" y="357086"/>
            <a:ext cx="8762999" cy="6143828"/>
          </a:xfrm>
          <a:prstGeom prst="rect">
            <a:avLst/>
          </a:prstGeom>
          <a:solidFill>
            <a:srgbClr val="ECECEC">
              <a:alpha val="3921"/>
            </a:srgbClr>
          </a:solidFill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71" name="Google Shape;171;p6"/>
          <p:cNvGrpSpPr/>
          <p:nvPr/>
        </p:nvGrpSpPr>
        <p:grpSpPr>
          <a:xfrm>
            <a:off x="466670" y="1570801"/>
            <a:ext cx="2159996" cy="3695695"/>
            <a:chOff x="37601" y="504001"/>
            <a:chExt cx="2159996" cy="3695695"/>
          </a:xfrm>
        </p:grpSpPr>
        <p:sp>
          <p:nvSpPr>
            <p:cNvPr id="172" name="Google Shape;172;p6"/>
            <p:cNvSpPr/>
            <p:nvPr/>
          </p:nvSpPr>
          <p:spPr>
            <a:xfrm>
              <a:off x="37601" y="504001"/>
              <a:ext cx="2159996" cy="3695695"/>
            </a:xfrm>
            <a:prstGeom prst="chevron">
              <a:avLst>
                <a:gd fmla="val 50000" name="adj"/>
              </a:avLst>
            </a:prstGeom>
            <a:solidFill>
              <a:srgbClr val="00C6BA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6"/>
            <p:cNvSpPr txBox="1"/>
            <p:nvPr/>
          </p:nvSpPr>
          <p:spPr>
            <a:xfrm>
              <a:off x="37601" y="504001"/>
              <a:ext cx="2159996" cy="3695695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15225" lIns="30475" spcFirstLastPara="1" rIns="0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2F2F2"/>
                </a:buClr>
                <a:buSzPts val="2400"/>
                <a:buFont typeface="Century Gothic"/>
                <a:buNone/>
              </a:pPr>
              <a:r>
                <a:rPr b="1" i="0" lang="en-IN" sz="2400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BLOCKCHAIN APPROACH</a:t>
              </a:r>
              <a:endParaRPr b="0" i="0" sz="2400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61150" y="0"/>
            <a:ext cx="9430851" cy="6858000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  <p:grpSp>
        <p:nvGrpSpPr>
          <p:cNvPr id="179" name="Google Shape;179;p7"/>
          <p:cNvGrpSpPr/>
          <p:nvPr/>
        </p:nvGrpSpPr>
        <p:grpSpPr>
          <a:xfrm>
            <a:off x="29904" y="0"/>
            <a:ext cx="2671763" cy="6858000"/>
            <a:chOff x="0" y="0"/>
            <a:chExt cx="2671763" cy="6858000"/>
          </a:xfrm>
        </p:grpSpPr>
        <p:sp>
          <p:nvSpPr>
            <p:cNvPr id="180" name="Google Shape;180;p7"/>
            <p:cNvSpPr/>
            <p:nvPr/>
          </p:nvSpPr>
          <p:spPr>
            <a:xfrm>
              <a:off x="0" y="0"/>
              <a:ext cx="2671763" cy="6858000"/>
            </a:xfrm>
            <a:prstGeom prst="rect">
              <a:avLst/>
            </a:prstGeom>
            <a:gradFill>
              <a:gsLst>
                <a:gs pos="0">
                  <a:srgbClr val="86C8C2"/>
                </a:gs>
                <a:gs pos="100000">
                  <a:srgbClr val="5ABBB2"/>
                </a:gs>
              </a:gsLst>
              <a:lin ang="5400000" scaled="0"/>
            </a:gra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7"/>
            <p:cNvSpPr txBox="1"/>
            <p:nvPr/>
          </p:nvSpPr>
          <p:spPr>
            <a:xfrm>
              <a:off x="0" y="0"/>
              <a:ext cx="2671763" cy="685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7575" lIns="227575" spcFirstLastPara="1" rIns="227575" wrap="square" tIns="227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Century Gothic"/>
                <a:buNone/>
              </a:pPr>
              <a:r>
                <a:rPr b="1" i="0" lang="en-IN" sz="3200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SYSTEM EXECUTION FLOW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8"/>
          <p:cNvGrpSpPr/>
          <p:nvPr/>
        </p:nvGrpSpPr>
        <p:grpSpPr>
          <a:xfrm>
            <a:off x="2152649" y="0"/>
            <a:ext cx="7886700" cy="6858001"/>
            <a:chOff x="2152649" y="0"/>
            <a:chExt cx="7886700" cy="6858001"/>
          </a:xfrm>
        </p:grpSpPr>
        <p:sp>
          <p:nvSpPr>
            <p:cNvPr id="187" name="Google Shape;187;p8"/>
            <p:cNvSpPr/>
            <p:nvPr/>
          </p:nvSpPr>
          <p:spPr>
            <a:xfrm>
              <a:off x="2152649" y="0"/>
              <a:ext cx="6858001" cy="6858001"/>
            </a:xfrm>
            <a:prstGeom prst="triangle">
              <a:avLst>
                <a:gd fmla="val 50000" name="adj"/>
              </a:avLst>
            </a:prstGeom>
            <a:solidFill>
              <a:srgbClr val="00C6BA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8"/>
            <p:cNvSpPr/>
            <p:nvPr/>
          </p:nvSpPr>
          <p:spPr>
            <a:xfrm>
              <a:off x="5581649" y="686093"/>
              <a:ext cx="4457700" cy="541808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00C6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8"/>
            <p:cNvSpPr txBox="1"/>
            <p:nvPr/>
          </p:nvSpPr>
          <p:spPr>
            <a:xfrm>
              <a:off x="5608098" y="712542"/>
              <a:ext cx="4404802" cy="4889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42"/>
                <a:buFont typeface="Noto Sans Symbols"/>
                <a:buNone/>
              </a:pPr>
              <a:r>
                <a:rPr b="1" i="0" lang="en-IN" sz="2200" u="none" cap="none" strike="noStrike">
                  <a:solidFill>
                    <a:schemeClr val="dk1"/>
                  </a:solidFill>
                </a:rPr>
                <a:t>Increased Transparency </a:t>
              </a:r>
              <a:endParaRPr b="1" i="0" sz="2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90" name="Google Shape;190;p8"/>
            <p:cNvSpPr/>
            <p:nvPr/>
          </p:nvSpPr>
          <p:spPr>
            <a:xfrm>
              <a:off x="5581649" y="1295628"/>
              <a:ext cx="4457700" cy="541808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00C6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8"/>
            <p:cNvSpPr txBox="1"/>
            <p:nvPr/>
          </p:nvSpPr>
          <p:spPr>
            <a:xfrm>
              <a:off x="5608098" y="1322077"/>
              <a:ext cx="4404802" cy="4889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b="1" i="0" lang="en-IN" sz="2200" u="none" cap="none" strike="noStrike">
                  <a:solidFill>
                    <a:schemeClr val="dk1"/>
                  </a:solidFill>
                </a:rPr>
                <a:t>Enhanced Security </a:t>
              </a:r>
              <a:endParaRPr b="1" i="0" sz="2200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192" name="Google Shape;192;p8"/>
            <p:cNvSpPr/>
            <p:nvPr/>
          </p:nvSpPr>
          <p:spPr>
            <a:xfrm>
              <a:off x="5581649" y="1905163"/>
              <a:ext cx="4457700" cy="541808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00C6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8"/>
            <p:cNvSpPr txBox="1"/>
            <p:nvPr/>
          </p:nvSpPr>
          <p:spPr>
            <a:xfrm>
              <a:off x="5608098" y="1931612"/>
              <a:ext cx="4404802" cy="4889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b="1" i="0" lang="en-IN" sz="2200" u="none" cap="none" strike="noStrike">
                  <a:solidFill>
                    <a:schemeClr val="dk1"/>
                  </a:solidFill>
                </a:rPr>
                <a:t>Reduced Fraud and Disputes</a:t>
              </a:r>
              <a:endParaRPr b="1" i="0" sz="2200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194" name="Google Shape;194;p8"/>
            <p:cNvSpPr/>
            <p:nvPr/>
          </p:nvSpPr>
          <p:spPr>
            <a:xfrm>
              <a:off x="5581649" y="2514698"/>
              <a:ext cx="4457700" cy="541808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00C6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8"/>
            <p:cNvSpPr txBox="1"/>
            <p:nvPr/>
          </p:nvSpPr>
          <p:spPr>
            <a:xfrm>
              <a:off x="5608098" y="2541147"/>
              <a:ext cx="4404802" cy="4889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b="1" i="0" lang="en-IN" sz="2200" u="none" cap="none" strike="noStrike">
                  <a:solidFill>
                    <a:schemeClr val="dk1"/>
                  </a:solidFill>
                </a:rPr>
                <a:t>Streamlined Transactions</a:t>
              </a:r>
              <a:endParaRPr b="1" i="0" sz="2200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196" name="Google Shape;196;p8"/>
            <p:cNvSpPr/>
            <p:nvPr/>
          </p:nvSpPr>
          <p:spPr>
            <a:xfrm>
              <a:off x="5581649" y="3124233"/>
              <a:ext cx="4457700" cy="541808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00C6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8"/>
            <p:cNvSpPr txBox="1"/>
            <p:nvPr/>
          </p:nvSpPr>
          <p:spPr>
            <a:xfrm>
              <a:off x="5608098" y="3150682"/>
              <a:ext cx="4404802" cy="4889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b="1" i="0" lang="en-IN" sz="2200" u="none" cap="none" strike="noStrike">
                  <a:solidFill>
                    <a:schemeClr val="dk1"/>
                  </a:solidFill>
                </a:rPr>
                <a:t>Improved Accessibility</a:t>
              </a:r>
              <a:endParaRPr b="1" i="0" sz="2200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198" name="Google Shape;198;p8"/>
            <p:cNvSpPr/>
            <p:nvPr/>
          </p:nvSpPr>
          <p:spPr>
            <a:xfrm>
              <a:off x="5581649" y="3733767"/>
              <a:ext cx="4457700" cy="541808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00C6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8"/>
            <p:cNvSpPr txBox="1"/>
            <p:nvPr/>
          </p:nvSpPr>
          <p:spPr>
            <a:xfrm>
              <a:off x="5608098" y="3760216"/>
              <a:ext cx="4404802" cy="4889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b="1" i="0" lang="en-IN" sz="2200" u="none" cap="none" strike="noStrike">
                  <a:solidFill>
                    <a:schemeClr val="dk1"/>
                  </a:solidFill>
                </a:rPr>
                <a:t>Cost Savings</a:t>
              </a:r>
              <a:endParaRPr b="1" i="0" sz="2200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200" name="Google Shape;200;p8"/>
            <p:cNvSpPr/>
            <p:nvPr/>
          </p:nvSpPr>
          <p:spPr>
            <a:xfrm>
              <a:off x="5581649" y="4343302"/>
              <a:ext cx="4457700" cy="541808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00C6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8"/>
            <p:cNvSpPr txBox="1"/>
            <p:nvPr/>
          </p:nvSpPr>
          <p:spPr>
            <a:xfrm>
              <a:off x="5608098" y="4369751"/>
              <a:ext cx="4404802" cy="4889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b="1" i="0" lang="en-IN" sz="2200" u="none" cap="none" strike="noStrike">
                  <a:solidFill>
                    <a:schemeClr val="dk1"/>
                  </a:solidFill>
                </a:rPr>
                <a:t>Global Accessibility</a:t>
              </a:r>
              <a:endParaRPr b="1" i="0" sz="2200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202" name="Google Shape;202;p8"/>
            <p:cNvSpPr/>
            <p:nvPr/>
          </p:nvSpPr>
          <p:spPr>
            <a:xfrm>
              <a:off x="5581649" y="4952837"/>
              <a:ext cx="4457700" cy="541808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00C6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8"/>
            <p:cNvSpPr txBox="1"/>
            <p:nvPr/>
          </p:nvSpPr>
          <p:spPr>
            <a:xfrm>
              <a:off x="5608098" y="4979286"/>
              <a:ext cx="4404802" cy="4889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b="1" i="0" lang="en-IN" sz="2200" u="none" cap="none" strike="noStrike">
                  <a:solidFill>
                    <a:schemeClr val="dk1"/>
                  </a:solidFill>
                </a:rPr>
                <a:t>Decentralization of Governance</a:t>
              </a:r>
              <a:endParaRPr b="1" i="0" sz="2200" u="none" cap="none" strike="noStrike">
                <a:solidFill>
                  <a:schemeClr val="dk1"/>
                </a:solidFill>
              </a:endParaRPr>
            </a:p>
          </p:txBody>
        </p:sp>
        <p:sp>
          <p:nvSpPr>
            <p:cNvPr id="204" name="Google Shape;204;p8"/>
            <p:cNvSpPr/>
            <p:nvPr/>
          </p:nvSpPr>
          <p:spPr>
            <a:xfrm>
              <a:off x="5581649" y="5562372"/>
              <a:ext cx="4457700" cy="541808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00C6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8"/>
            <p:cNvSpPr txBox="1"/>
            <p:nvPr/>
          </p:nvSpPr>
          <p:spPr>
            <a:xfrm>
              <a:off x="5608098" y="5588821"/>
              <a:ext cx="4404802" cy="4889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b="1" i="0" lang="en-IN" sz="2200" u="none" cap="none" strike="noStrike">
                  <a:solidFill>
                    <a:schemeClr val="dk1"/>
                  </a:solidFill>
                </a:rPr>
                <a:t>Scalability and Future-Proofing</a:t>
              </a:r>
              <a:endParaRPr b="1" i="0" sz="2200" u="none" cap="none" strike="noStrike">
                <a:solidFill>
                  <a:schemeClr val="dk1"/>
                </a:solidFill>
              </a:endParaRPr>
            </a:p>
          </p:txBody>
        </p:sp>
      </p:grpSp>
      <p:sp>
        <p:nvSpPr>
          <p:cNvPr id="206" name="Google Shape;206;p8"/>
          <p:cNvSpPr txBox="1"/>
          <p:nvPr/>
        </p:nvSpPr>
        <p:spPr>
          <a:xfrm>
            <a:off x="4306192" y="6119100"/>
            <a:ext cx="2573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4200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</a:t>
            </a:r>
            <a:r>
              <a:rPr b="1" lang="en-IN" sz="4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</a:t>
            </a:r>
            <a:r>
              <a:rPr b="1" i="0" lang="en-IN" sz="4200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EFITS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b="0" lang="en-IN" sz="6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POSSIBLE</a:t>
            </a:r>
            <a:r>
              <a:rPr b="0" lang="en-IN" sz="6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 </a:t>
            </a:r>
            <a:r>
              <a:rPr b="0" lang="en-IN" sz="6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OUTCOMES</a:t>
            </a:r>
            <a:endParaRPr/>
          </a:p>
        </p:txBody>
      </p:sp>
      <p:sp>
        <p:nvSpPr>
          <p:cNvPr id="216" name="Google Shape;216;p10"/>
          <p:cNvSpPr txBox="1"/>
          <p:nvPr/>
        </p:nvSpPr>
        <p:spPr>
          <a:xfrm>
            <a:off x="518055" y="2471057"/>
            <a:ext cx="10863943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IN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availability of data in a central location that can be accessed by all departments would enable faster disposal of requests for subsidy, mutation.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IN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There would be no need for trusted authority like notaries to provide attested copies of documents.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/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-IN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farmers will be assured that their land ownership cannot be changed by spurious persons.</a:t>
            </a:r>
            <a:endParaRPr sz="2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b="0" lang="en-IN" sz="6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REQUIREMENTS</a:t>
            </a:r>
            <a:endParaRPr/>
          </a:p>
        </p:txBody>
      </p:sp>
      <p:pic>
        <p:nvPicPr>
          <p:cNvPr id="222" name="Google Shape;222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50539" l="1375" r="41090" t="4108"/>
          <a:stretch/>
        </p:blipFill>
        <p:spPr>
          <a:xfrm>
            <a:off x="6237514" y="2579914"/>
            <a:ext cx="2841171" cy="138248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</p:pic>
      <p:pic>
        <p:nvPicPr>
          <p:cNvPr id="223" name="Google Shape;223;p11"/>
          <p:cNvPicPr preferRelativeResize="0"/>
          <p:nvPr/>
        </p:nvPicPr>
        <p:blipFill rotWithShape="1">
          <a:blip r:embed="rId4">
            <a:alphaModFix/>
          </a:blip>
          <a:srcRect b="0" l="-1" r="-6932" t="0"/>
          <a:stretch/>
        </p:blipFill>
        <p:spPr>
          <a:xfrm>
            <a:off x="8875939" y="2579914"/>
            <a:ext cx="3028950" cy="1514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1"/>
          <p:cNvSpPr txBox="1"/>
          <p:nvPr/>
        </p:nvSpPr>
        <p:spPr>
          <a:xfrm>
            <a:off x="452284" y="2487352"/>
            <a:ext cx="54285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▪"/>
            </a:pPr>
            <a:r>
              <a:rPr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Ethereum, Solidity, HTML, CSS, Javascript, Truffle, Ganache, Metamask, Oracles, Geospatial and GIS Integration, User Interfaces (UI) and User Experience (UX) Design Tools, Blockchain Explorer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25" name="Google Shape;225;p11"/>
          <p:cNvPicPr preferRelativeResize="0"/>
          <p:nvPr/>
        </p:nvPicPr>
        <p:blipFill rotWithShape="1">
          <a:blip r:embed="rId5">
            <a:alphaModFix/>
          </a:blip>
          <a:srcRect b="20254" l="0" r="0" t="0"/>
          <a:stretch/>
        </p:blipFill>
        <p:spPr>
          <a:xfrm>
            <a:off x="6237514" y="3962398"/>
            <a:ext cx="2638425" cy="1382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67894" y="3795668"/>
            <a:ext cx="1549216" cy="1549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1"/>
          <p:cNvPicPr preferRelativeResize="0"/>
          <p:nvPr/>
        </p:nvPicPr>
        <p:blipFill rotWithShape="1">
          <a:blip r:embed="rId7">
            <a:alphaModFix/>
          </a:blip>
          <a:srcRect b="25158" l="0" r="0" t="0"/>
          <a:stretch/>
        </p:blipFill>
        <p:spPr>
          <a:xfrm>
            <a:off x="8424039" y="3962398"/>
            <a:ext cx="1758848" cy="13824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eme2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2023-09-21T09:14:10Z</dcterms:created>
  <dc:creator>mitiksha pipaliya</dc:creator>
</cp:coreProperties>
</file>